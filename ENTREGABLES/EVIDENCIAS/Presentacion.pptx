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RF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7D5B"/>
              </a:solidFill>
              <a:effectLst/>
            </c:spPr>
          </c:dPt>
          <c:dPt>
            <c:idx val="1"/>
            <c:bubble3D val="0"/>
            <c:spPr>
              <a:solidFill>
                <a:srgbClr val="F2A93B"/>
              </a:solidFill>
              <a:effectLst/>
            </c:spPr>
          </c:dPt>
          <c:dPt>
            <c:idx val="2"/>
            <c:bubble3D val="0"/>
            <c:spPr>
              <a:solidFill>
                <a:srgbClr val="D9D9E3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Implementado</c:v>
                </c:pt>
                <c:pt idx="1">
                  <c:v>Parcial</c:v>
                </c:pt>
                <c:pt idx="2">
                  <c:v>No implementado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</c:v>
                </c:pt>
                <c:pt idx="1">
                  <c:v>10</c:v>
                </c:pt>
                <c:pt idx="2">
                  <c:v>24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E2761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194560"/>
            <a:ext cx="6858000" cy="6858000"/>
          </a:xfrm>
          <a:prstGeom prst="ellipse">
            <a:avLst/>
          </a:prstGeom>
          <a:solidFill>
            <a:srgbClr val="141B48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389120"/>
            <a:ext cx="4206240" cy="4206240"/>
          </a:xfrm>
          <a:prstGeom prst="ellipse">
            <a:avLst/>
          </a:prstGeom>
          <a:solidFill>
            <a:srgbClr val="141B4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DE PROCESO  ·  SPEC-DRIVEN DEVELOPMENT CON IA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3172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TimeClockSystem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2044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especificación a la implementación: problema, especificaciones y solución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434840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141B48"/>
          </a:solidFill>
          <a:ln w="12700">
            <a:solidFill>
              <a:srgbClr val="3340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43484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39112" y="4434840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141B48"/>
          </a:solidFill>
          <a:ln w="12700">
            <a:solidFill>
              <a:srgbClr val="33407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039112" y="443484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 y trazabilidad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52544" y="443484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141B48"/>
          </a:solidFill>
          <a:ln w="12700">
            <a:solidFill>
              <a:srgbClr val="33407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52544" y="44348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34456" y="4434840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141B48"/>
          </a:solidFill>
          <a:ln w="12700">
            <a:solidFill>
              <a:srgbClr val="33407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34456" y="443484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IA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42048" y="4434840"/>
            <a:ext cx="685800" cy="384048"/>
          </a:xfrm>
          <a:prstGeom prst="roundRect">
            <a:avLst>
              <a:gd name="adj" fmla="val 19048"/>
            </a:avLst>
          </a:prstGeom>
          <a:solidFill>
            <a:srgbClr val="141B48"/>
          </a:solidFill>
          <a:ln w="12700">
            <a:solidFill>
              <a:srgbClr val="33407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42048" y="443484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92440" y="443484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141B48"/>
          </a:solidFill>
          <a:ln w="12700">
            <a:solidFill>
              <a:srgbClr val="33407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92440" y="44348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60350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Construido y validado con Claude Code · TimeClockSystem.Api + TimeClockSystem.Web · SQL Server · Docker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754880" cy="4754880"/>
          </a:xfrm>
          <a:prstGeom prst="ellipse">
            <a:avLst/>
          </a:prstGeom>
          <a:solidFill>
            <a:srgbClr val="141B48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291840" cy="3291840"/>
          </a:xfrm>
          <a:prstGeom prst="ellipse">
            <a:avLst/>
          </a:prstGeom>
          <a:solidFill>
            <a:srgbClr val="141B4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3317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3566160" y="25146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 y valor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producto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33832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existe TimeClockSystem y qué resultado de negocio persigue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217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/  06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DE NEGOCIO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fricciones reales del control de asistencia manual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84708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Captura fragmentada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24028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Relojes biométricos no cubren personal remoto ni de campo; las marcas manuales son propensas a error y fraude (“buddy punching”).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246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321868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Pre-nómina manual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61188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extra, recargos y ausencias se calculan hoy en hojas de cálculo — genera reprocesos y reclamos laborales.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6177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617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459028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trazabilidad ni autoservicio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98348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empleado no ve su propio historial; RRHH concentra tareas operativas que podrían resolverse solas.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F4F7F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59893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TimeClockSystem centraliza captura, cálculo y gestión de excepciones bajo un marco de auditoría inalterable.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TimeClockSystem — Evidencia del proceso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ESPERADO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del proyecto, con métrica de éxito medible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606040" cy="306324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2860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≥80%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3337560"/>
            <a:ext cx="22037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del tiempo de procesamiento manual de pre-nómina por ciclo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47288" y="1965960"/>
            <a:ext cx="2606040" cy="3063240"/>
          </a:xfrm>
          <a:prstGeom prst="roundRect">
            <a:avLst>
              <a:gd name="adj" fmla="val 2807"/>
            </a:avLst>
          </a:prstGeom>
          <a:solidFill>
            <a:srgbClr val="F4F7F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47288" y="22860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≥99%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648456" y="3337560"/>
            <a:ext cx="22037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y bloqueo de intentos de suplantación en el marcaje biométrico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54496" y="1965960"/>
            <a:ext cx="2606040" cy="306324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54496" y="22860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455664" y="3337560"/>
            <a:ext cx="22037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Modificaciones manuales sobre marcas/permisos/horarios en bitácora inalterable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61704" y="1965960"/>
            <a:ext cx="2606040" cy="3063240"/>
          </a:xfrm>
          <a:prstGeom prst="roundRect">
            <a:avLst>
              <a:gd name="adj" fmla="val 2807"/>
            </a:avLst>
          </a:prstGeom>
          <a:solidFill>
            <a:srgbClr val="F4F7F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061704" y="22860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262872" y="3337560"/>
            <a:ext cx="22037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Marcas capturadas sin conexión, sincronizadas sin pérdida de datos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257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ENTREGABLES/vision.md §3 (Objetivos del proyecto) — 7 objetivos definidos, 4 destacados aquí.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TimeClockSystem — Evidencia del proceso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754880" cy="4754880"/>
          </a:xfrm>
          <a:prstGeom prst="ellipse">
            <a:avLst/>
          </a:prstGeom>
          <a:solidFill>
            <a:srgbClr val="141B48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291840" cy="3291840"/>
          </a:xfrm>
          <a:prstGeom prst="ellipse">
            <a:avLst/>
          </a:prstGeom>
          <a:solidFill>
            <a:srgbClr val="141B4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3317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3566160" y="25146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Especificaciones principales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trazabilidad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33832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una visión de 38 requisitos funcionales al sistema realmente construido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217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06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NIVELES DE ESPECIFICACIÓN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visión completa vs. lo que se implementó y validó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12080" cy="3886200"/>
          </a:xfrm>
          <a:prstGeom prst="roundRect">
            <a:avLst>
              <a:gd name="adj" fmla="val 1882"/>
            </a:avLst>
          </a:prstGeom>
          <a:solidFill>
            <a:srgbClr val="F4F7F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07568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OBJETIVO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774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docs/specs/functional/ + docs/architecture/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68680" y="2834640"/>
            <a:ext cx="109728" cy="109728"/>
          </a:xfrm>
          <a:prstGeom prst="ellipse">
            <a:avLst/>
          </a:prstGeom>
          <a:solidFill>
            <a:srgbClr val="5B6B8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15568" y="274320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microservicios (.NET 10) + API Gateway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3364992"/>
            <a:ext cx="109728" cy="109728"/>
          </a:xfrm>
          <a:prstGeom prst="ellipse">
            <a:avLst/>
          </a:prstGeom>
          <a:solidFill>
            <a:srgbClr val="5B6B8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15568" y="327355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compartida + Redis (eventos/SignalR)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68680" y="3895344"/>
            <a:ext cx="109728" cy="109728"/>
          </a:xfrm>
          <a:prstGeom prst="ellipse">
            <a:avLst/>
          </a:prstGeom>
          <a:solidFill>
            <a:srgbClr val="5B6B8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15568" y="380390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historias de usuario (US-001 a US-013)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68680" y="4425696"/>
            <a:ext cx="109728" cy="109728"/>
          </a:xfrm>
          <a:prstGeom prst="ellipse">
            <a:avLst/>
          </a:prstGeom>
          <a:solidFill>
            <a:srgbClr val="5B6B8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15568" y="433425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requisitos funcionales, 14 reglas de negocio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68680" y="4956048"/>
            <a:ext cx="109728" cy="109728"/>
          </a:xfrm>
          <a:prstGeom prst="ellipse">
            <a:avLst/>
          </a:prstGeom>
          <a:solidFill>
            <a:srgbClr val="5B6B8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15568" y="486460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Biometría, offline, pre-nómina, ERP, tiempo real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26480" y="1874520"/>
            <a:ext cx="5212080" cy="3886200"/>
          </a:xfrm>
          <a:prstGeom prst="roundRect">
            <a:avLst>
              <a:gd name="adj" fmla="val 1882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55080" y="207568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REAL IMPLEMENTADO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23774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src/TimeClockSystem.* — validado en ejecución real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55080" y="2834640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01968" y="27432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proyectos: Api (Clean Architecture) + Web MVC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355080" y="3364992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01968" y="327355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contenerizado con Docker Compose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55080" y="3895344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601968" y="380390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historias cubiertas total o parcialmente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355080" y="4425696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601968" y="433425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endpoints REST, 16 tablas, 9 controllers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355080" y="4956048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01968" y="48646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Marcaje web/PIN, geofence, turnos, auditoría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TimeClockSystem — Evidencia del proceso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TRAZABILIDAD RF → HU → CU → ENDPOINT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Cobertura real de los 38 requisitos funcionales de la visión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83080"/>
          <a:ext cx="4663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23560" y="192024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035040" y="1874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RF implementados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035040" y="221284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Marcaje web/PIN, geofence, turnos, auditoría inalterable, roles básicos.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623560" y="297180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2A93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035040" y="2926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RF parciales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035040" y="326440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un endpoint relacionado, pero cubre solo una parte del requisito.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623560" y="402336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9CA3B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035040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RF no implementados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035040" y="431596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Pre-nómina, incidencias/vacaciones, ERP, biometría, tiempo real, offline.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5623560" y="51206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ENTREGABLES/traceability.md — matriz completa RF → HU → CU → Bounded Context → Endpoint.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TimeClockSystem — Evidencia del proceso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 DE CONSTRUCCIÓN CON SPEC KIT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especificaciones, tres incrementos reales de producto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29000" cy="3566160"/>
          </a:xfrm>
          <a:prstGeom prst="roundRect">
            <a:avLst>
              <a:gd name="adj" fmla="val 2400"/>
            </a:avLst>
          </a:prstGeom>
          <a:solidFill>
            <a:srgbClr val="F4F7FD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1847088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184708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9748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timeclock-spec-v1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42900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Monolito MVC + SQLite. 6 módulos esenciales, datos mock, 69 tareas.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14400" y="498348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49834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tareas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087368" y="361188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297680" y="2103120"/>
            <a:ext cx="3429000" cy="3566160"/>
          </a:xfrm>
          <a:prstGeom prst="roundRect">
            <a:avLst>
              <a:gd name="adj" fmla="val 2400"/>
            </a:avLst>
          </a:prstGeom>
          <a:solidFill>
            <a:srgbClr val="F4F7FD"/>
          </a:solidFill>
          <a:ln/>
        </p:spPr>
      </p:sp>
      <p:sp>
        <p:nvSpPr>
          <p:cNvPr id="13" name="Shape 11"/>
          <p:cNvSpPr/>
          <p:nvPr/>
        </p:nvSpPr>
        <p:spPr>
          <a:xfrm>
            <a:off x="4553712" y="1847088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53712" y="184708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269748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split-backend-frontend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342900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en Backend WebAPI (JWT) + Frontend MVC vía HTTP. 64 tareas.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0" y="498348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72000" y="49834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tareas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744968" y="361188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7955280" y="2103120"/>
            <a:ext cx="3429000" cy="3566160"/>
          </a:xfrm>
          <a:prstGeom prst="roundRect">
            <a:avLst>
              <a:gd name="adj" fmla="val 2400"/>
            </a:avLst>
          </a:prstGeom>
          <a:solidFill>
            <a:srgbClr val="F4F7FD"/>
          </a:solidFill>
          <a:ln/>
        </p:spPr>
      </p:sp>
      <p:sp>
        <p:nvSpPr>
          <p:cNvPr id="21" name="Shape 19"/>
          <p:cNvSpPr/>
          <p:nvPr/>
        </p:nvSpPr>
        <p:spPr>
          <a:xfrm>
            <a:off x="8211312" y="1847088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11312" y="184708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003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269748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sqlserver-docker-migration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342900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+ contenerización Docker, un solo comando de arranque. 24 tareas.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229600" y="498348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29600" y="49834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tareas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58521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feature siguió el mismo ciclo: specify → clarify → plan → tasks → analyze → implement → converge (ver sección 04).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TimeClockSystem — Evidencia del proceso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754880" cy="4754880"/>
          </a:xfrm>
          <a:prstGeom prst="ellipse">
            <a:avLst/>
          </a:prstGeom>
          <a:solidFill>
            <a:srgbClr val="141B48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291840" cy="3291840"/>
          </a:xfrm>
          <a:prstGeom prst="ellipse">
            <a:avLst/>
          </a:prstGeom>
          <a:solidFill>
            <a:srgbClr val="141B4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3317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3566160" y="25146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y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decisiones técnicas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33832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Architecture, y por qué cada decisión se tomó frente a su alternativa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217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06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BACKEND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Architecture: 4 capas, cada una con un límite claro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932688"/>
          </a:xfrm>
          <a:prstGeom prst="roundRect">
            <a:avLst>
              <a:gd name="adj" fmla="val 6863"/>
            </a:avLst>
          </a:prstGeom>
          <a:solidFill>
            <a:srgbClr val="F4F7FD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75688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0756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9842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023360" y="1874520"/>
            <a:ext cx="7223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y reglas puras: Empleado, Marca, Turno, GeofenceValidator, PuntualidadCalculator. Sin dependencias externas.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2811780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916936"/>
            <a:ext cx="10881360" cy="932688"/>
          </a:xfrm>
          <a:prstGeom prst="roundRect">
            <a:avLst>
              <a:gd name="adj" fmla="val 6863"/>
            </a:avLst>
          </a:prstGeom>
          <a:solidFill>
            <a:srgbClr val="F4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" y="3118104"/>
            <a:ext cx="530352" cy="530352"/>
          </a:xfrm>
          <a:prstGeom prst="ellipse">
            <a:avLst/>
          </a:prstGeom>
          <a:solidFill>
            <a:srgbClr val="2A3A7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311810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645920" y="302666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023360" y="2916936"/>
            <a:ext cx="7223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uso, DTOs y puertos: RegistrarMarcaUseCase, EmpleadosService, 10 interfaces de repositorio.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3854196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959352"/>
            <a:ext cx="10881360" cy="932688"/>
          </a:xfrm>
          <a:prstGeom prst="roundRect">
            <a:avLst>
              <a:gd name="adj" fmla="val 6863"/>
            </a:avLst>
          </a:prstGeom>
          <a:solidFill>
            <a:srgbClr val="F4F7FD"/>
          </a:solidFill>
          <a:ln/>
        </p:spPr>
      </p:sp>
      <p:sp>
        <p:nvSpPr>
          <p:cNvPr id="17" name="Shape 15"/>
          <p:cNvSpPr/>
          <p:nvPr/>
        </p:nvSpPr>
        <p:spPr>
          <a:xfrm>
            <a:off x="868680" y="4160520"/>
            <a:ext cx="530352" cy="530352"/>
          </a:xfrm>
          <a:prstGeom prst="ellipse">
            <a:avLst/>
          </a:prstGeom>
          <a:solidFill>
            <a:srgbClr val="3C4E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41605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645920" y="4069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4023360" y="3959352"/>
            <a:ext cx="7223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+ SQL Server, Identity, JWT, DbSeeder, 6 repositorios — implementa los puertos de Application.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96112" y="489661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5001768"/>
            <a:ext cx="10881360" cy="932688"/>
          </a:xfrm>
          <a:prstGeom prst="roundRect">
            <a:avLst>
              <a:gd name="adj" fmla="val 6863"/>
            </a:avLst>
          </a:prstGeom>
          <a:solidFill>
            <a:srgbClr val="1E2761"/>
          </a:solidFill>
          <a:ln/>
        </p:spPr>
      </p:sp>
      <p:sp>
        <p:nvSpPr>
          <p:cNvPr id="23" name="Shape 21"/>
          <p:cNvSpPr/>
          <p:nvPr/>
        </p:nvSpPr>
        <p:spPr>
          <a:xfrm>
            <a:off x="868680" y="5202936"/>
            <a:ext cx="530352" cy="53035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68680" y="52029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645920" y="511149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4023360" y="5001768"/>
            <a:ext cx="7223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controllers REST, Swagger/OpenAPI, autenticación JWT, auditoría automática de accesos denegados.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6089904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ENTREGABLES/ARQUITECTURA/Arquitectura_e_Implementacion.md — 30 endpoints, 16 tablas, 9 controllers, 32 pruebas.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TimeClockSystem — Evidencia del proceso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RESEARCH.MD — DECISIONES CON ALTERNATIVA DESCARTADA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decisión técnica, justificada frente a lo que se descartó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881360" cy="4206240"/>
        </p:xfrm>
        <a:graphic>
          <a:graphicData uri="http://schemas.openxmlformats.org/drawingml/2006/table">
            <a:tbl>
              <a:tblPr/>
              <a:tblGrid>
                <a:gridCol w="2103120"/>
                <a:gridCol w="4023360"/>
                <a:gridCol w="4754880"/>
              </a:tblGrid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Decisión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Elegido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Alternativa descartada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Migraciones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7D5B"/>
                          </a:solidFill>
                        </a:rPr>
                        <a:t>1 migración inicial limpia para SQL Server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5B6B8C"/>
                          </a:solidFill>
                        </a:rPr>
                        <a:t>Reescribir las 6 migraciones de SQLite una por una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Imagen de BD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7D5B"/>
                          </a:solidFill>
                        </a:rPr>
                        <a:t>SQL Server Developer (gratuita, sin límites)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5B6B8C"/>
                          </a:solidFill>
                        </a:rPr>
                        <a:t>Express (límite 10 GB) / Standard (con costo de licencia)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Orquestación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7D5B"/>
                          </a:solidFill>
                        </a:rPr>
                        <a:t>Docker Compose (1 comando)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5B6B8C"/>
                          </a:solidFill>
                        </a:rPr>
                        <a:t>Kubernetes — sobre-ingeniería para 1 desarrollador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Espera a la BD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7D5B"/>
                          </a:solidFill>
                        </a:rPr>
                        <a:t>Healthcheck + reintento acotado en código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5B6B8C"/>
                          </a:solidFill>
                        </a:rPr>
                        <a:t>Solo `depends_on`, sin reintento — no cubre reinicios aislados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Infra. de pruebas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7D5B"/>
                          </a:solidFill>
                        </a:rPr>
                        <a:t>SQLite en archivo temporal (sin tocar)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5B6B8C"/>
                          </a:solidFill>
                        </a:rPr>
                        <a:t>Levantar un contenedor SQL Server real por corrida de test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TimeClockSystem — Evidencia del proceso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754880" cy="4754880"/>
          </a:xfrm>
          <a:prstGeom prst="ellipse">
            <a:avLst/>
          </a:prstGeom>
          <a:solidFill>
            <a:srgbClr val="141B48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291840" cy="3291840"/>
          </a:xfrm>
          <a:prstGeom prst="ellipse">
            <a:avLst/>
          </a:prstGeom>
          <a:solidFill>
            <a:srgbClr val="141B4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3317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3566160" y="25146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 de IA y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 de revisión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33832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usó Claude Code, qué encontró al ejecutar el sistema, y qué se aceptó o rechazó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217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06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SPEC-DRIVEN DEVELOPMENT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mismo ciclo de 7 pasos en cada una de las 3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37260" y="23317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37260" y="2331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18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5204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Especificación + preguntas abiertas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435608" y="2720340"/>
            <a:ext cx="771144" cy="0"/>
          </a:xfrm>
          <a:prstGeom prst="line">
            <a:avLst/>
          </a:prstGeom>
          <a:noFill/>
          <a:ln w="19050">
            <a:solidFill>
              <a:srgbClr val="C7D0E8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522220" y="23317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522220" y="2331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225040" y="3218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087880" y="35204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Ambigüedades resueltas antes de construir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020568" y="2720340"/>
            <a:ext cx="771144" cy="0"/>
          </a:xfrm>
          <a:prstGeom prst="line">
            <a:avLst/>
          </a:prstGeom>
          <a:noFill/>
          <a:ln w="19050">
            <a:solidFill>
              <a:srgbClr val="C7D0E8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4107180" y="23317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107180" y="2331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3810000" y="3218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672840" y="35204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y decisiones técnicas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05528" y="2720340"/>
            <a:ext cx="771144" cy="0"/>
          </a:xfrm>
          <a:prstGeom prst="line">
            <a:avLst/>
          </a:prstGeom>
          <a:noFill/>
          <a:ln w="19050">
            <a:solidFill>
              <a:srgbClr val="C7D0E8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692140" y="23317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92140" y="2331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5394960" y="3218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257800" y="35204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trazables a requisitos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90488" y="2720340"/>
            <a:ext cx="771144" cy="0"/>
          </a:xfrm>
          <a:prstGeom prst="line">
            <a:avLst/>
          </a:prstGeom>
          <a:noFill/>
          <a:ln w="19050">
            <a:solidFill>
              <a:srgbClr val="C7D0E8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7277100" y="23317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277100" y="2331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6979920" y="3218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842760" y="35204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Consistencia spec↔plan↔tasks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775448" y="2720340"/>
            <a:ext cx="771144" cy="0"/>
          </a:xfrm>
          <a:prstGeom prst="line">
            <a:avLst/>
          </a:prstGeom>
          <a:noFill/>
          <a:ln w="19050">
            <a:solidFill>
              <a:srgbClr val="C7D0E8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8862060" y="2331720"/>
            <a:ext cx="777240" cy="7772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862060" y="2331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8564880" y="3218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8427720" y="35204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+ validación real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360408" y="2720340"/>
            <a:ext cx="771144" cy="0"/>
          </a:xfrm>
          <a:prstGeom prst="line">
            <a:avLst/>
          </a:prstGeom>
          <a:noFill/>
          <a:ln w="19050">
            <a:solidFill>
              <a:srgbClr val="C7D0E8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10447020" y="23317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0447020" y="2331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36" name="Text 34"/>
          <p:cNvSpPr txBox="1"/>
          <p:nvPr/>
        </p:nvSpPr>
        <p:spPr>
          <a:xfrm>
            <a:off x="10149840" y="3218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10012680" y="35204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final contra el código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4663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`implement` es donde aparecieron los defectos reales (ver siguiente slide) — el resto del ciclo previene retrabajo, no lo sustituye.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40080" y="52578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4F7FD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868680" y="525780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de doble sentido: cada tarea cita su requisito de origen (FR/SC), y cada hallazgo de ‘analyze’ se remedia antes de implementar — documentado en 2 reportes reales (RC1, BackEnd) y 1 más en esta feature (DBMigration).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TimeClockSystem — Evidencia del proceso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DE REVISIÓN — ENCONTRADOS EN EJECUCIÓN REAL, NO EN REVISIÓN DE CÓDIGO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defectos reales, encontrados y corregidos durante /speckit-implement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1298448"/>
          </a:xfrm>
          <a:prstGeom prst="roundRect">
            <a:avLst>
              <a:gd name="adj" fmla="val 4930"/>
            </a:avLst>
          </a:prstGeom>
          <a:solidFill>
            <a:srgbClr val="F4F7FD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93976"/>
            <a:ext cx="548640" cy="548640"/>
          </a:xfrm>
          <a:prstGeom prst="ellipse">
            <a:avLst/>
          </a:prstGeom>
          <a:solidFill>
            <a:srgbClr val="B23A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0939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98424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Doble proveedor EF Core en pruebas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3317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Síntoma real:  20/23 pruebas fallando: “Only a single database provider can be registered”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71576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Corrección:  Se quitó también IDbContextOptionsConfiguration&lt;&gt;, no solo DbContextOptions&lt;&gt;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319272"/>
            <a:ext cx="10881360" cy="1298448"/>
          </a:xfrm>
          <a:prstGeom prst="roundRect">
            <a:avLst>
              <a:gd name="adj" fmla="val 4930"/>
            </a:avLst>
          </a:prstGeom>
          <a:solidFill>
            <a:srgbClr val="F4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" y="3538728"/>
            <a:ext cx="548640" cy="548640"/>
          </a:xfrm>
          <a:prstGeom prst="ellipse">
            <a:avLst/>
          </a:prstGeom>
          <a:solidFill>
            <a:srgbClr val="B23A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3538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42900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Migraciones SQL Server inválidas en SQLite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77647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Síntoma real:  SQLite Error 1: 'near “max”: syntax error' al correr pruebas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41605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Corrección:  Entorno “Testing” usa EnsureCreatedAsync() en vez de repetir la migración real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764024"/>
            <a:ext cx="10881360" cy="1298448"/>
          </a:xfrm>
          <a:prstGeom prst="roundRect">
            <a:avLst>
              <a:gd name="adj" fmla="val 4930"/>
            </a:avLst>
          </a:prstGeom>
          <a:solidFill>
            <a:srgbClr val="F4F7FD"/>
          </a:solidFill>
          <a:ln/>
        </p:spPr>
      </p:sp>
      <p:sp>
        <p:nvSpPr>
          <p:cNvPr id="17" name="Shape 15"/>
          <p:cNvSpPr/>
          <p:nvPr/>
        </p:nvSpPr>
        <p:spPr>
          <a:xfrm>
            <a:off x="868680" y="4983480"/>
            <a:ext cx="548640" cy="548640"/>
          </a:xfrm>
          <a:prstGeom prst="ellipse">
            <a:avLst/>
          </a:prstGeom>
          <a:solidFill>
            <a:srgbClr val="B23A3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4983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4873752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Secreto vacío no rechazado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600200" y="522122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Síntoma real:  El contenedor arrancaba con Jwt:SigningKey vacío (solo se validaba null)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560527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Corrección:  Se cambió a string.IsNullOrWhiteSpace(...) para conexión y clave de firma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TimeClockSystem — Evidencia del proceso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HUMANO EN EL PROCESO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se aceptó y qué se rechazó — y por qué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12080" cy="4114800"/>
          </a:xfrm>
          <a:prstGeom prst="roundRect">
            <a:avLst>
              <a:gd name="adj" fmla="val 1778"/>
            </a:avLst>
          </a:prstGeom>
          <a:solidFill>
            <a:srgbClr val="EAF4E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0756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ACEPTADO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6032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clarificaciones de la especificación 003, con opción recomendada y justificación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61188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decisiones técnicas de research.md, ninguna objetada antes de implementar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66344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de los 6 entregables SDD, tras resolver 3 dudas explícitas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1874520"/>
            <a:ext cx="5212080" cy="4114800"/>
          </a:xfrm>
          <a:prstGeom prst="roundRect">
            <a:avLst>
              <a:gd name="adj" fmla="val 1778"/>
            </a:avLst>
          </a:prstGeom>
          <a:solidFill>
            <a:srgbClr val="FBEAE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55080" y="20756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RECHAZADO / CORREGIDO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56032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“database-per-service” en la arquitectura de 9 microservicios — el propio usuario lo marcó como resultado no deseado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361188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Instrucción de dar “fidelidad completa, sin excepción” de sesiones sin transcript — se rechazó fabricar prompts falsos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466344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conteo propio erróneo en traceability.md (35 en vez de 38) — detectado y corregido antes de reportar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1264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completo: ENTREGABLES/EVIDENCIAS/CriterioHumano.md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TimeClockSystem — Evidencia del proceso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754880" cy="4754880"/>
          </a:xfrm>
          <a:prstGeom prst="ellipse">
            <a:avLst/>
          </a:prstGeom>
          <a:solidFill>
            <a:srgbClr val="141B48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291840" cy="3291840"/>
          </a:xfrm>
          <a:prstGeom prst="ellipse">
            <a:avLst/>
          </a:prstGeom>
          <a:solidFill>
            <a:srgbClr val="141B4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3317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3566160" y="25146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funcional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sistema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33832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narrada para presentar el sistema en vivo (sin capturas de pantalla)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217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06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GUION DE DEMO EN VIVO — QUICKSTART.MD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pasos para mostrar el sistema funcionando de punta a punta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5623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Levantar todo con un comando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22199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.env.example .env (completar secretos) → docker compose up --build. Los 3 contenedores (SQL Server, Api, Web) quedan sanos en segundos.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7249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660904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Iniciar sesión y marcar asistencia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02666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como admin1 o como un empleado; registrar una marca de entrada — se valida geofence y consentimiento en tiempo real.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52958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529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46557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Administrar y consultar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831336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Crear/editar un centro de trabajo o turno; consultar el historial de asistencias con su indicador de puntualidad.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33425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334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27024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Reiniciar y verificar persistencia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63600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Detener y recrear los contenedores sin borrar el volumen — los datos siguen ahí, sin resembrar ni duplicar.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1389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5138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07492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Provocar un fallo controlado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544068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Levantar el Backend sin un secreto configurado — el contenedor se detiene con un error explícito, no arranca inseguro.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03504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completa, con comandos exactos: specs/003-sqlserver-docker-migration/quickstart.md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TimeClockSystem — Evidencia del proceso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754880" cy="4754880"/>
          </a:xfrm>
          <a:prstGeom prst="ellipse">
            <a:avLst/>
          </a:prstGeom>
          <a:solidFill>
            <a:srgbClr val="141B48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291840" cy="3291840"/>
          </a:xfrm>
          <a:prstGeom prst="ellipse">
            <a:avLst/>
          </a:prstGeom>
          <a:solidFill>
            <a:srgbClr val="141B4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3317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3566160" y="25146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Aprendizajes y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mejoras pendientes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33832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deja este proceso, y qué falta para cerrar la visión completa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217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06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APRENDIZAJES DEL PROCESO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este proceso confirmó, en la práctica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1920240"/>
          </a:xfrm>
          <a:prstGeom prst="roundRect">
            <a:avLst>
              <a:gd name="adj" fmla="val 3810"/>
            </a:avLst>
          </a:prstGeom>
          <a:solidFill>
            <a:srgbClr val="F4F7FD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031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07568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Ejecutar revela lo que leer no muestra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74320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3 defectos reales solo aparecieron al correr pruebas y contenedores de verdad — no en la revisión de código.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874520"/>
            <a:ext cx="5257800" cy="1920240"/>
          </a:xfrm>
          <a:prstGeom prst="roundRect">
            <a:avLst>
              <a:gd name="adj" fmla="val 3810"/>
            </a:avLst>
          </a:prstGeom>
          <a:solidFill>
            <a:srgbClr val="F4F7FD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21031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207568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Clarificar antes de construir reduce retrabajo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74320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preguntas resueltas explícitamente antes de implementar, en las 3 features.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5257800" cy="1920240"/>
          </a:xfrm>
          <a:prstGeom prst="roundRect">
            <a:avLst>
              <a:gd name="adj" fmla="val 3810"/>
            </a:avLst>
          </a:prstGeom>
          <a:solidFill>
            <a:srgbClr val="F4F7FD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425196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22452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honestidad es una restricción de diseño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89204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 una instrucción imposible de cumplir sin inventar datos, se rechazó y se negoció una alternativa real.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4023360"/>
            <a:ext cx="5257800" cy="1920240"/>
          </a:xfrm>
          <a:prstGeom prst="roundRect">
            <a:avLst>
              <a:gd name="adj" fmla="val 3810"/>
            </a:avLst>
          </a:prstGeom>
          <a:solidFill>
            <a:srgbClr val="F4F7FD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425196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422452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Documentar el porqué, no solo el qué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489204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decisión técnica quedó junto a su alternativa descartada — auditable después, no solo hoy.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TimeClockSystem — Evidencia del proceso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— 24 DE 38 RF DE LA VISIÓN AÚN NO IMPLEMENTADOS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falta para cerrar la visión completa del producto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993392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pre-nómina: cálculo de horas extra, recargos y clasificación legal (RF12–15, RF32–34)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715768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715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74320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Incidencias, vacaciones y su flujo de aprobación multinivel (RF16–20)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465576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465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49300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de supervisor en tiempo real y reasignación de cobertura (RF25–28)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215384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215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242816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real con ERP/Nómina y directorio activo (RF29–31)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965192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9651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992624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Biometría con prueba de vida (liveness) y marcaje sin conexión (RF4–6)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5806440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8680" y="58064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 de estos puntos se construye de forma oportunista: cada uno requiere su propia especificación (Principio III — Cero Alcance Fantasma).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TimeClockSystem — Evidencia del proceso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194560"/>
            <a:ext cx="5943600" cy="5943600"/>
          </a:xfrm>
          <a:prstGeom prst="ellipse">
            <a:avLst/>
          </a:prstGeom>
          <a:solidFill>
            <a:srgbClr val="141B48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840480"/>
            <a:ext cx="5029200" cy="5029200"/>
          </a:xfrm>
          <a:prstGeom prst="ellipse">
            <a:avLst/>
          </a:prstGeom>
          <a:solidFill>
            <a:srgbClr val="141B4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286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3375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→ especificaciones → solución, con evidencia verificable en cada paso.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4187952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4114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411480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Resumen, stack, ejecución y credenciales de prueba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4626864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43000" y="45537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ENTREGABLES/EVIDENCIAS/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455371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Evidencias.md · UsosEsperados.md · CriterioHumano.md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5065776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43000" y="499262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ENTREGABLES/traceability.md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4992624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RF → HU → CU → Bounded Context → Endpoint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68680" y="5504688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43000" y="543153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specs/003-sqlserver-docker-migration/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5431536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Especificación, plan, tareas y guía de validación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Proyecto TimeClockSystem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TimeClockSystem: de la especificación a la implementación con IA</dc:title>
  <dc:subject>PptxGenJS Presentation</dc:subject>
  <dc:creator>TimeClockSystem — Claude Code</dc:creator>
  <cp:lastModifiedBy>TimeClockSystem — Claude Code</cp:lastModifiedBy>
  <cp:revision>1</cp:revision>
  <dcterms:created xsi:type="dcterms:W3CDTF">2026-09-26T01:12:29Z</dcterms:created>
  <dcterms:modified xsi:type="dcterms:W3CDTF">2026-09-26T01:12:29Z</dcterms:modified>
</cp:coreProperties>
</file>