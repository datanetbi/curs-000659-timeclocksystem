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8" r:id="rId20"/>
    <p:sldId id="279" r:id="rId21"/>
    <p:sldId id="280" r:id="rId22"/>
    <p:sldId id="281" r:id="rId23"/>
    <p:sldId id="273" r:id="rId24"/>
    <p:sldId id="274" r:id="rId25"/>
    <p:sldId id="275" r:id="rId26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spaldos Multiples" initials="RM" lastIdx="1" clrIdx="0">
    <p:extLst>
      <p:ext uri="{19B8F6BF-5375-455C-9EA6-DF929625EA0E}">
        <p15:presenceInfo xmlns:p15="http://schemas.microsoft.com/office/powerpoint/2012/main" userId="16f24ad56c66fd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B7-4E18-A31D-2C3432FC5464}"/>
              </c:ext>
            </c:extLst>
          </c:dPt>
          <c:dPt>
            <c:idx val="1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B7-4E18-A31D-2C3432FC5464}"/>
              </c:ext>
            </c:extLst>
          </c:dPt>
          <c:dPt>
            <c:idx val="2"/>
            <c:bubble3D val="0"/>
            <c:spPr>
              <a:solidFill>
                <a:srgbClr val="D9D9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B7-4E18-A31D-2C3432FC5464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B7-4E18-A31D-2C3432FC5464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B7-4E18-A31D-2C3432FC5464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B7-4E18-A31D-2C3432FC546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Implementado</c:v>
                </c:pt>
                <c:pt idx="1">
                  <c:v>Parcial</c:v>
                </c:pt>
                <c:pt idx="2">
                  <c:v>No implementado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10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B7-4E18-A31D-2C3432FC5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s-MX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34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imeclock-assists-portal.runasp.net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858000" cy="6858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206240" cy="42062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PROCESO  ·  SPEC-DRIVEN DEVELOPMENT CON 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Clock System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especificación a la implementación: problema, especificaciones y solución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34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39112" y="443484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9112" y="44348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y trazabilidad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44348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2544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34456" y="443484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2048" y="4434840"/>
            <a:ext cx="68580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42048" y="4434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44348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1B48"/>
          </a:solidFill>
          <a:ln w="12700">
            <a:solidFill>
              <a:srgbClr val="3340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y validado con Claude Code · TimeClockSystem.Api + TimeClockSystem.Web · SQL Server ·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y valor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producto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</a:t>
            </a:r>
            <a:r>
              <a:rPr lang="en-US" sz="15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Clock System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qué resultado de negocio persigue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06</a:t>
            </a:r>
            <a:endParaRPr lang="en-US" sz="120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C4A821DC-BFCF-4C2B-B30D-606253CB2CA9}"/>
              </a:ext>
            </a:extLst>
          </p:cNvPr>
          <p:cNvSpPr txBox="1"/>
          <p:nvPr/>
        </p:nvSpPr>
        <p:spPr>
          <a:xfrm>
            <a:off x="3566160" y="3971230"/>
            <a:ext cx="7688651" cy="1743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dirty="0">
                <a:solidFill>
                  <a:srgbClr val="8C9ACB"/>
                </a:solidFill>
                <a:latin typeface="Calibri" pitchFamily="34" charset="0"/>
                <a:cs typeface="Calibri" pitchFamily="34" charset="-120"/>
              </a:rPr>
              <a:t>Facilitar el registro de asistencia al personal de una empresa, reduciendo los accidentes de tráfico por la premura de un registro en planta. </a:t>
            </a:r>
          </a:p>
          <a:p>
            <a:pPr marL="0" indent="0">
              <a:buNone/>
            </a:pPr>
            <a:endParaRPr lang="es-MX" sz="1200" dirty="0">
              <a:solidFill>
                <a:srgbClr val="8C9AC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200" dirty="0">
                <a:solidFill>
                  <a:srgbClr val="8C9ACB"/>
                </a:solidFill>
                <a:latin typeface="Calibri" pitchFamily="34" charset="0"/>
                <a:cs typeface="Calibri" pitchFamily="34" charset="-120"/>
              </a:rPr>
              <a:t>Facilitar el control administrativo de las jornadas laborales y proporcionar información confiable para la elaboración de nóminas.</a:t>
            </a:r>
          </a:p>
          <a:p>
            <a:pPr marL="0" indent="0">
              <a:buNone/>
            </a:pPr>
            <a:endParaRPr lang="es-MX" sz="1200" dirty="0">
              <a:solidFill>
                <a:srgbClr val="8C9ACB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s-MX" sz="1200" dirty="0">
                <a:solidFill>
                  <a:srgbClr val="8C9ACB"/>
                </a:solidFill>
                <a:latin typeface="Calibri" pitchFamily="34" charset="0"/>
                <a:cs typeface="Calibri" pitchFamily="34" charset="-120"/>
              </a:rPr>
              <a:t>Transparencia con los colaboradores de la empresa, al contar con evidencia verificable de los horarios registrados.</a:t>
            </a:r>
            <a:endParaRPr lang="en-US" sz="1200" dirty="0">
              <a:solidFill>
                <a:srgbClr val="8C9ACB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fricciones reales del control de asistencia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fragmentada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Relojes biométricos no cubren personal remoto ni de campo; las marcas manuales son propensas a error y fraude (“buddy punching”).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18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Pre-nómina manual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118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extra, recargos y ausencias se calculan hoy en hojas de cálculo — genera reprocesos y reclamos laborales.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90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trazabilidad ni autoservicio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834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no ve su propio historial; RRHH concentra tareas operativas que podrían resolverse solas.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4F7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989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centraliza captura, cálculo y gestión de excepciones bajo un marco de auditoría inalterable.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ESPERADO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proyecto, con métrica de éxito medible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≥80%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tiempo de procesamiento manual de pre-nómina por ciclo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47288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bloqueo de intentos de suplantación en el marcaje biométrico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54496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 manuales sobre marcas/permisos/horarios en bitácora inalterable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61704" y="196596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61704" y="2286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3337560"/>
            <a:ext cx="2203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capturadas sin conexión, sincronizadas sin pérdida de datos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ENTREGABLES/vision.md §3 (Objetivos del proyecto) — 7 objetivos definidos, 4 destacados aquí.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Especificaciones principales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trazabilidad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visión de 38 requisitos funcionales al sistema realmente construido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06</a:t>
            </a:r>
            <a:endParaRPr lang="en-US" sz="120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AD108C85-229C-4FBC-9F6F-C72F58458F98}"/>
              </a:ext>
            </a:extLst>
          </p:cNvPr>
          <p:cNvSpPr txBox="1"/>
          <p:nvPr/>
        </p:nvSpPr>
        <p:spPr>
          <a:xfrm>
            <a:off x="3566160" y="4160520"/>
            <a:ext cx="7688651" cy="250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MX" sz="1200" b="1" i="0" dirty="0">
                <a:solidFill>
                  <a:srgbClr val="BFBFBF"/>
                </a:solidFill>
                <a:effectLst/>
                <a:latin typeface="-apple-system"/>
              </a:rPr>
              <a:t>Sí se implementó:</a:t>
            </a:r>
          </a:p>
          <a:p>
            <a:pPr algn="l"/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Marcaje por PIN/portal web, con validación de duplicados  (RF1-3)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Turnos, asignaciones y centros de trabajo (RF8-10, básico)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Consulta de asistencias con indicador de puntualidad, para empleado y </a:t>
            </a:r>
            <a:r>
              <a:rPr lang="es-MX" sz="1000" b="0" i="0" dirty="0" err="1">
                <a:solidFill>
                  <a:srgbClr val="BFBFBF"/>
                </a:solidFill>
                <a:effectLst/>
                <a:latin typeface="-apple-system"/>
              </a:rPr>
              <a:t>admin</a:t>
            </a: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 (RF12, RF21, RF32)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 err="1">
                <a:solidFill>
                  <a:srgbClr val="BFBFBF"/>
                </a:solidFill>
                <a:effectLst/>
                <a:latin typeface="-apple-system"/>
              </a:rPr>
              <a:t>Login</a:t>
            </a: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 con 2 roles (Empleado/Administrador) vía JWT (RF35)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Auditoría de eventos de seguridad, solo lectura (RF36-37)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Consentimiento de geolocalización (RF38)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200" dirty="0">
              <a:solidFill>
                <a:srgbClr val="BFBFBF"/>
              </a:solidFill>
              <a:latin typeface="-apple-system"/>
            </a:endParaRPr>
          </a:p>
          <a:p>
            <a:pPr algn="l"/>
            <a:r>
              <a:rPr lang="es-MX" sz="1200" b="1" i="0" dirty="0">
                <a:solidFill>
                  <a:srgbClr val="BFBFBF"/>
                </a:solidFill>
                <a:effectLst/>
                <a:latin typeface="-apple-system"/>
              </a:rPr>
              <a:t>No se implementó</a:t>
            </a:r>
            <a:r>
              <a:rPr lang="es-MX" sz="1200" b="0" i="0" dirty="0">
                <a:solidFill>
                  <a:srgbClr val="BFBFBF"/>
                </a:solidFill>
                <a:effectLst/>
                <a:latin typeface="-apple-system"/>
              </a:rPr>
              <a:t>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Biometría facial / </a:t>
            </a:r>
            <a:r>
              <a:rPr lang="es-MX" sz="1000" b="0" i="0" dirty="0" err="1">
                <a:solidFill>
                  <a:srgbClr val="BFBFBF"/>
                </a:solidFill>
                <a:effectLst/>
                <a:latin typeface="-apple-system"/>
              </a:rPr>
              <a:t>liveness</a:t>
            </a: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 y modo offline (RF4-6)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Motor de </a:t>
            </a:r>
            <a:r>
              <a:rPr lang="es-MX" sz="1000" b="0" i="0" dirty="0" err="1">
                <a:solidFill>
                  <a:srgbClr val="BFBFBF"/>
                </a:solidFill>
                <a:effectLst/>
                <a:latin typeface="-apple-system"/>
              </a:rPr>
              <a:t>pre-nómina</a:t>
            </a: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: cálculo de horas extra, clasificación diurna/nocturna/festiva, recálculo de periodos (RF13-15)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Incidencias, permisos y vacaciones — módulo entero ausente (RF16-20)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Portal del Supervisor en tiempo real, reasignación de cobertura (RF25-28)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Integración/exportación a ERP o nómina externa (RF29-31)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Reportes con </a:t>
            </a:r>
            <a:r>
              <a:rPr lang="es-MX" sz="1000" b="0" i="0" dirty="0" err="1">
                <a:solidFill>
                  <a:srgbClr val="BFBFBF"/>
                </a:solidFill>
                <a:effectLst/>
                <a:latin typeface="-apple-system"/>
              </a:rPr>
              <a:t>KPIs</a:t>
            </a: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 y exportación PDF/Excel/CSV (RF33-34)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MX" sz="1000" b="0" i="0" dirty="0">
                <a:solidFill>
                  <a:srgbClr val="BFBFBF"/>
                </a:solidFill>
                <a:effectLst/>
                <a:latin typeface="-apple-system"/>
              </a:rPr>
              <a:t>Los otros 6 roles del modelo objetivo (Supervisor, Auditor, TI, etc.) — solo existen 2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MX" sz="1200" b="0" i="0" dirty="0">
              <a:solidFill>
                <a:srgbClr val="BFBFBF"/>
              </a:solidFill>
              <a:effectLst/>
              <a:latin typeface="-apple-system"/>
            </a:endParaRPr>
          </a:p>
          <a:p>
            <a:pPr marL="0" indent="0">
              <a:buNone/>
            </a:pPr>
            <a:endParaRPr lang="en-US" sz="1200" dirty="0">
              <a:solidFill>
                <a:srgbClr val="8C9ACB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NIVELES DE ESPECIFICACIÓN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visión completa vs. lo que se implementó y validó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OBJETIVO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docs/specs/functional/ + docs/architecture/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27432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microservicios (.NET 10) + API Gateway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3273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compartida + Redis (eventos/SignalR)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895344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38039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historias de usuario (US-001 a US-013)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425696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43342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requisitos funcionales, 14 reglas de negocio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956048"/>
            <a:ext cx="109728" cy="1097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15568" y="48646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Biometría, offline, pre-nómina, ERP, tiempo real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2075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REAL IMPLEMENTADO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src/TimeClockSystem.* — validado en ejecución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8346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proyectos: Api (Clean Architecture) + Web MVC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336499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01968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contenerizado con Docker Compose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89534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historias cubiertas total o parcialmente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42569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01968" y="43342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endpoints REST, 16 tablas, 9 controllers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495604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01968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Marcaje web/PIN, geofence, turnos, auditoría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TRAZABILIDAD RF → HU → CU → ENDPOINT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real de los 38 requisitos funcionales de la visión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4663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9202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350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RF implementados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128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Marcaje web/PIN, geofence, turnos, auditoría inalterable, roles básicos.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23560" y="29718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2A9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350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RF parciales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2644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endpoint relacionado, pero cubre solo una parte del requisite original.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</a:t>
            </a:r>
            <a:r>
              <a:rPr lang="es-MX" sz="1050" dirty="0" err="1">
                <a:solidFill>
                  <a:srgbClr val="5B6B8C"/>
                </a:solidFill>
                <a:latin typeface="Calibri" pitchFamily="34" charset="0"/>
                <a:cs typeface="Calibri" pitchFamily="34" charset="-120"/>
              </a:rPr>
              <a:t>iométria</a:t>
            </a:r>
            <a:r>
              <a:rPr lang="es-MX" sz="1050" dirty="0">
                <a:solidFill>
                  <a:srgbClr val="5B6B8C"/>
                </a:solidFill>
                <a:latin typeface="Calibri" pitchFamily="34" charset="0"/>
                <a:cs typeface="Calibri" pitchFamily="34" charset="-120"/>
              </a:rPr>
              <a:t> facial ni RFID, cálculos para operaciones con nómina, roles y consentimiento.</a:t>
            </a:r>
            <a:endParaRPr lang="en-US" sz="1050" dirty="0">
              <a:solidFill>
                <a:srgbClr val="5B6B8C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23560" y="40233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9CA3B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RF no implementados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4315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Pre-nómina, incidencias/vacaciones, ERP, biometría, tiempo real, offline.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5120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ENTREGABLES/traceability.md — matriz completa RF → HU → CU → Bounded Context → Endpoint.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CONSTRUCCIÓN CON SPEC KIT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especificaciones, tres incrementos reales de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timeclock-spec-v1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MVC + SQLite. 6 módulos esenciales, datos mock, 69 tareas.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tareas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8736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37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37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split-backend-frontend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 Backend WebAPI (JWT) + Frontend MVC vía HTTP. 64 tareas.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tareas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44968" y="361188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955280" y="210312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184708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11312" y="1847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697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sqlserver-docker-migration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34290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contenerización Docker, un solo comando de arranque. 24 tareas.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0" y="498348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0" y="4983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tareas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siguió el mismo ciclo: specify → clarify → plan → tasks → analyze → implement → converge (ver sección 04).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técnicas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y por qué cada decisión se tomó frente a su alternativa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06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Architecture: 4 capas, cada una con un límite claro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756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874520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 puras: Empleado, Marca, Turno, GeofenceValidator, PuntualidadCalculator. Sin dependencias externas.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1178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118104"/>
            <a:ext cx="530352" cy="530352"/>
          </a:xfrm>
          <a:prstGeom prst="ellipse">
            <a:avLst/>
          </a:prstGeom>
          <a:solidFill>
            <a:srgbClr val="2A3A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026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916936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DTOs y puertos: RegistrarMarcaUseCase, EmpleadosService, 10 interfaces de repositorio.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8541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160520"/>
            <a:ext cx="530352" cy="530352"/>
          </a:xfrm>
          <a:prstGeom prst="ellipse">
            <a:avLst/>
          </a:prstGeom>
          <a:solidFill>
            <a:srgbClr val="3C4E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60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3959352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SQL Server, Identity, JWT, DbSeeder, 6 repositorios — implementa los puertos de Application.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8966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01768"/>
            <a:ext cx="108813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5202936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202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5111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5001768"/>
            <a:ext cx="7223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controllers REST, Swagger/OpenAPI, autenticación JWT, auditoría automática de accesos denegados.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8990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ENTREGABLES/ARQUITECTURA/Arquitectura_e_Implementacion.md — 30 endpoints, 16 tablas, 9 controllers, 32 pruebas.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RESEARCH.MD — DECISIONES CON ALTERNATIVA DESCARTADA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decisión técnica, justificada frente a lo que se descartó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4206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Elegido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Alternativa descartada</a:t>
                      </a:r>
                      <a:endParaRPr lang="en-US" sz="12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Migraciones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1 migración inicial limpia para SQL Server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Reescribir las 6 migraciones de SQLite una por una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Imagen de BD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SQL Server Developer (gratuita, sin límites)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Express (límite 10 GB) / Standard (con costo de licencia)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Orquestación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Docker Compose (1 comando)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Kubernetes — sobre-ingeniería para 1 desarrollador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Espera a la BD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Healthcheck + reintento acotado en código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Solo `depends_on`, sin reintento — no cubre reinicios aislados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Infra. de pruebas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</a:rPr>
                        <a:t>SQLite en archivo temporal (sin tocar)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B6B8C"/>
                          </a:solidFill>
                        </a:rPr>
                        <a:t>Levantar un contenedor SQL Server real por corrida de test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IA 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de revisión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usó Claude Code, qué encontró al ejecutar el sistema, y qué se aceptó o rechazó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06</a:t>
            </a:r>
            <a:endParaRPr lang="en-US" sz="1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9634998-ADAB-4888-ACC4-CFBAA740B634}"/>
              </a:ext>
            </a:extLst>
          </p:cNvPr>
          <p:cNvSpPr txBox="1"/>
          <p:nvPr/>
        </p:nvSpPr>
        <p:spPr>
          <a:xfrm>
            <a:off x="3566160" y="4238466"/>
            <a:ext cx="8478057" cy="155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usaron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prompts que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pedían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IA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“Lead Requirements Engineer” para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vision,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usuario,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Sistema. El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era que la IA me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tuviese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Sistema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las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hubiese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 para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Desarrollo del Sistema se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utilizaron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buNone/>
            </a:pPr>
            <a:endParaRPr lang="en-US" sz="11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aceptó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IA,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Sistema,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finalmente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dieron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solo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buNone/>
            </a:pPr>
            <a:endParaRPr lang="en-US" sz="11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usaron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Con la primer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entregó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backend y frontend es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sola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 algn="just">
              <a:buNone/>
            </a:pPr>
            <a:endParaRPr lang="en-US" sz="11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del frontend.</a:t>
            </a:r>
          </a:p>
          <a:p>
            <a:pPr marL="0" indent="0" algn="just">
              <a:buNone/>
            </a:pPr>
            <a:endParaRPr lang="en-US" sz="11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motor de la base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SPEC-DRIVEN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ciclo de 7 pasos en cada una de las 3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726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72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+ preguntas abiertas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3560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2222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222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22504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878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Ambigüedades resueltas antes de construir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2056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0718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071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81000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7284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decisiones técnicas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552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69214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214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trazables a requisitos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048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27710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7710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97992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427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spec↔plan↔tasks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544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862060" y="233172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86206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5648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4277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validación real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60408" y="2720340"/>
            <a:ext cx="771144" cy="0"/>
          </a:xfrm>
          <a:prstGeom prst="line">
            <a:avLst/>
          </a:prstGeom>
          <a:noFill/>
          <a:ln w="19050">
            <a:solidFill>
              <a:srgbClr val="C7D0E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447020" y="23317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4702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final contra el código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663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`implement` es donde aparecieron los defectos reales (ver siguiente slide) — el resto del ciclo previene retrabajo, no lo sustituye.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doble sentido: cada tarea cita su requisito de origen (FR/SC), y cada hallazgo de ‘analyze’ se remedia antes de implementar — documentado en 2 reportes reales (RC1, BackEnd) y 1 más en esta feature (DBMigration).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REVISIÓN — ENCONTRADOS EN EJECUCIÓN REAL, NO EN REVISIÓN DE CÓDIGO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defectos reales, encontrados y corregidos durante /speckit-implement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93976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84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proveedor EF Core en pruebas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31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20/23 pruebas fallando: “Only a single database provider can be registered”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715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Se quitó también IDbContextOptionsConfiguration&lt;&gt;, no solo DbContextOptions&lt;&gt;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19272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538728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429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Migraciones SQL Server inválidas en SQLite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7764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SQLite Error 1: 'near “max”: syntax error' al correr pruebas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60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Entorno “Testing” usa EnsureCreatedAsync() en vez de repetir la migración real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10881360" cy="1298448"/>
          </a:xfrm>
          <a:prstGeom prst="roundRect">
            <a:avLst>
              <a:gd name="adj" fmla="val 4930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rgbClr val="B23A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8737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 vacío no rechazado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221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real:  El contenedor arrancaba con Jwt:SigningKey vacío (solo se validaba null)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6052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 Se cambió a string.IsNullOrWhiteSpace(...) para conexión y clave de firma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HUMANO EN EL PROCESO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aceptó y qué se rechazó — y por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AF4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ACEPTADO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clarificaciones de la especificación 003, con opción recomendada y justificación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decisiones técnicas de research.md, ninguna objetada antes de implementar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los 6 entregables SDD, tras resolver 3 dudas explícitas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RECHAZADO / CORREGIDO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971800"/>
            <a:ext cx="4754880" cy="2239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“database-per-service”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9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6E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6E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original era una sola base de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</a:t>
            </a:r>
            <a:endParaRPr lang="en-US" sz="1250" dirty="0">
              <a:solidFill>
                <a:srgbClr val="6E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6E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simplemente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decidió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bases de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6E23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Obviamente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rezachada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bajo mi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usar multiples bases de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250" dirty="0" err="1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250" dirty="0">
                <a:solidFill>
                  <a:srgbClr val="6E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completo: ENTREGABLES/EVIDENCIAS/CriterioHumano.md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funcional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sistema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narrada para presentar el sistema en vivo, con evidencia real del sistema en ejecución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06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DEMO EN VIVO — QUICKSTART.MD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pasos para mostrar el sistema funcionando de punta a punta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56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 todo con un comando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219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.env.example .env (completar secretos) → docker compose up --build. Los 3 contenedores (SQL Server, Api, Web) quedan sanos en segundos.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609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Iniciar sesión y marcar asistencia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266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como admin1 o como un empleado; registrar una marca de entrada — se valida geofence y consentimiento en tiempo real.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Administrar y consultar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313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Crear/editar un centro de trabajo o turno; consultar el historial de asistencias con su indicador de puntualidad.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702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Reiniciar y verificar persistencia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36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 y recrear los contenedores sin borrar el volumen — los datos siguen ahí, sin resembrar ni duplicar.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74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Provocar un fallo controlado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40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Backend sin un secreto configurado — el contenedor se detiene con un error explícito, no arranca inseguro.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completa, con comandos exactos: specs/003-sqlserver-docker-migration/quickstart.md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93B"/>
                </a:solidFill>
                <a:latin typeface="Calibri"/>
              </a:rPr>
              <a:t>EVIDENCIA REAL — SISTEMA PUBLICADO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 err="1">
                <a:solidFill>
                  <a:srgbClr val="1E2761"/>
                </a:solidFill>
                <a:latin typeface="Cambria"/>
              </a:rPr>
              <a:t>Acceso</a:t>
            </a:r>
            <a:r>
              <a:rPr sz="3000" b="1" i="0" dirty="0">
                <a:solidFill>
                  <a:srgbClr val="1E2761"/>
                </a:solidFill>
                <a:latin typeface="Cambria"/>
              </a:rPr>
              <a:t> al </a:t>
            </a:r>
            <a:r>
              <a:rPr sz="3000" b="1" i="0" dirty="0" err="1">
                <a:solidFill>
                  <a:srgbClr val="1E2761"/>
                </a:solidFill>
                <a:latin typeface="Cambria"/>
              </a:rPr>
              <a:t>sistema</a:t>
            </a:r>
            <a:endParaRPr sz="3000" b="1" i="0" dirty="0">
              <a:solidFill>
                <a:srgbClr val="1E2761"/>
              </a:solidFill>
              <a:latin typeface="Cambria"/>
            </a:endParaRP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576796"/>
            <a:ext cx="5318760" cy="1961724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629960"/>
            <a:ext cx="531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Inicio de sesión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2467515"/>
            <a:ext cx="5318760" cy="3071005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33160" y="5629960"/>
            <a:ext cx="531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Panel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AA6C4"/>
                </a:solidFill>
                <a:latin typeface="Calibri"/>
              </a:rPr>
              <a:t>TimeClockSystem — Evidencia del proceso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AA6C4"/>
                </a:solidFill>
                <a:latin typeface="Calibri"/>
              </a:rPr>
              <a:t>12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0AD69D30-54BA-4D85-A84D-AFE5E082878C}"/>
              </a:ext>
            </a:extLst>
          </p:cNvPr>
          <p:cNvSpPr txBox="1"/>
          <p:nvPr/>
        </p:nvSpPr>
        <p:spPr>
          <a:xfrm>
            <a:off x="574367" y="1255641"/>
            <a:ext cx="109118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MX" sz="1400" b="1" i="0" dirty="0">
                <a:solidFill>
                  <a:srgbClr val="1E2761"/>
                </a:solidFill>
                <a:latin typeface="Cambria"/>
                <a:hlinkClick r:id="rId4"/>
              </a:rPr>
              <a:t>https://timeclock-assists-portal.runasp.net/</a:t>
            </a:r>
            <a:endParaRPr lang="es-MX" sz="1400" b="1" i="0" dirty="0">
              <a:solidFill>
                <a:srgbClr val="1E2761"/>
              </a:solidFill>
              <a:latin typeface="Cambria"/>
            </a:endParaRPr>
          </a:p>
          <a:p>
            <a:pPr algn="l"/>
            <a:r>
              <a:rPr lang="es-MX" sz="1400" b="1" i="0" dirty="0">
                <a:solidFill>
                  <a:srgbClr val="1E2761"/>
                </a:solidFill>
                <a:latin typeface="Cambria"/>
              </a:rPr>
              <a:t>https://timeclock-assists.runasp.net/</a:t>
            </a:r>
            <a:endParaRPr sz="1400" b="1" i="0" dirty="0">
              <a:solidFill>
                <a:srgbClr val="1E2761"/>
              </a:solidFill>
              <a:latin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93B"/>
                </a:solidFill>
                <a:latin typeface="Calibri"/>
              </a:rPr>
              <a:t>EVIDENCIA REAL — SISTEMA PUBLICADO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Marcaje y validación de geofence</a:t>
            </a:r>
          </a:p>
        </p:txBody>
      </p:sp>
      <p:pic>
        <p:nvPicPr>
          <p:cNvPr id="4" name="Picture 3" descr="Entrad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28025"/>
            <a:ext cx="5318760" cy="2310495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629960"/>
            <a:ext cx="531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Registro de marcaje (entrada)</a:t>
            </a:r>
          </a:p>
        </p:txBody>
      </p:sp>
      <p:pic>
        <p:nvPicPr>
          <p:cNvPr id="6" name="Picture 5" descr="Entrada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4074938"/>
            <a:ext cx="5318760" cy="1463582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33160" y="5629960"/>
            <a:ext cx="531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Marca aceptada — geofence validado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AA6C4"/>
                </a:solidFill>
                <a:latin typeface="Calibri"/>
              </a:rPr>
              <a:t>TimeClockSystem — Evidencia del proceso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AA6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93B"/>
                </a:solidFill>
                <a:latin typeface="Calibri"/>
              </a:rPr>
              <a:t>EVIDENCIA REAL — SISTEMA PUBLICADO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Administración de catálogos</a:t>
            </a:r>
          </a:p>
        </p:txBody>
      </p:sp>
      <p:pic>
        <p:nvPicPr>
          <p:cNvPr id="4" name="Picture 3" descr="Emple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25714"/>
            <a:ext cx="3454400" cy="1712806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Gestión de empleados</a:t>
            </a:r>
          </a:p>
        </p:txBody>
      </p:sp>
      <p:pic>
        <p:nvPicPr>
          <p:cNvPr id="6" name="Picture 5" descr="Centros de Trabaj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4578160"/>
            <a:ext cx="3454400" cy="960360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6880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Centros de trabajo</a:t>
            </a:r>
          </a:p>
        </p:txBody>
      </p:sp>
      <p:pic>
        <p:nvPicPr>
          <p:cNvPr id="8" name="Picture 7" descr="Dias Festiv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20" y="3595420"/>
            <a:ext cx="3454400" cy="1943100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9752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Días festivos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AA6C4"/>
                </a:solidFill>
                <a:latin typeface="Calibri"/>
              </a:rPr>
              <a:t>TimeClockSystem — Evidencia del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AA6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93B"/>
                </a:solidFill>
                <a:latin typeface="Calibri"/>
              </a:rPr>
              <a:t>EVIDENCIA REAL — SISTEMA PUBLICADO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Consulta de asistencias y auditoría</a:t>
            </a:r>
          </a:p>
        </p:txBody>
      </p:sp>
      <p:pic>
        <p:nvPicPr>
          <p:cNvPr id="4" name="Picture 3" descr="Consulta-de-Asist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6256"/>
            <a:ext cx="3454400" cy="2152264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Consulta — Empleado</a:t>
            </a:r>
          </a:p>
        </p:txBody>
      </p:sp>
      <p:pic>
        <p:nvPicPr>
          <p:cNvPr id="6" name="Picture 5" descr="Consulta-de-Asistencias 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3712366"/>
            <a:ext cx="3454400" cy="1826154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6880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Consulta — Administrador</a:t>
            </a:r>
          </a:p>
        </p:txBody>
      </p:sp>
      <p:pic>
        <p:nvPicPr>
          <p:cNvPr id="8" name="Picture 7" descr="Auditor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520" y="4379857"/>
            <a:ext cx="3454400" cy="1158663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97520" y="5629960"/>
            <a:ext cx="345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Registro de auditoría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AA6C4"/>
                </a:solidFill>
                <a:latin typeface="Calibri"/>
              </a:rPr>
              <a:t>TimeClockSystem — Evidencia del proceso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AA6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93B"/>
                </a:solidFill>
                <a:latin typeface="Calibri"/>
              </a:rPr>
              <a:t>EVIDENCIA REAL — SISTEMA PUBLICADO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8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mbria"/>
              </a:rPr>
              <a:t>Backend publicado en MonsterASP.NET</a:t>
            </a:r>
          </a:p>
        </p:txBody>
      </p:sp>
      <p:pic>
        <p:nvPicPr>
          <p:cNvPr id="4" name="Picture 3" descr="WebAPI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230" y="1560000"/>
            <a:ext cx="5503539" cy="3978520"/>
          </a:xfrm>
          <a:prstGeom prst="rect">
            <a:avLst/>
          </a:prstGeom>
          <a:ln w="12700">
            <a:solidFill>
              <a:srgbClr val="CADCF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5629960"/>
            <a:ext cx="10911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Backend publicado — Swagger / OpenAPI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9AA6C4"/>
                </a:solidFill>
                <a:latin typeface="Calibri"/>
              </a:rPr>
              <a:t>TimeClockSystem — Evidencia del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9AA6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514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Aprendizajes 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pendientes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deja este proceso, y qué falta para cerrar la visión completa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217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06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DEL PROCESO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proceso confirmó, en la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75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revela lo que leer no muestra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defectos reales solo aparecieron al correr pruebas y contenedores de verdad — no en la revisión de código.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75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Clarificar antes de construir reduce retrabajo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43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preguntas resueltas explícitamente antes de implementar, en las 3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245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honestidad es una restricción de diseño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instrucción imposible de cumplir sin inventar datos, se rechazó y se negoció una alternativa real.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2245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el porqué, no solo el qué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decisión técnica quedó junto a su alternativa descartada — auditable después, no solo hoy.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24 DE 38 RF DE LA VISIÓN AÚN NO IMPLEMENTADOS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para cerrar la visión completa del producto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99339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pre-nómina: cálculo de horas extra, recargos y clasificación legal (RF12–15, RF32–34)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157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43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Incidencias, vacaciones y su flujo de aprobación multinivel (RF16–20)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930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supervisor en tiempo real y reasignación de cobertura (RF25–28)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4281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con ERP/Nómina y directorio activo (RF29–31)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4965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926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con prueba de vida (liveness) y marcaje sin conexión (RF4–6)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de estos puntos se construye de forma oportunista: cada uno requiere su propia especificación (Principio III — Cero Alcance Fantasma).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TimeClockSystem — Evidencia del proceso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943600" cy="5943600"/>
          </a:xfrm>
          <a:prstGeom prst="ellipse">
            <a:avLst/>
          </a:prstGeom>
          <a:solidFill>
            <a:srgbClr val="141B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141B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→ especificaciones → solución, con evidencia verificable en cada paso.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8795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14300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114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stack, ejecución y credenciales de prueba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62686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143000" y="4553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ENTREGABLES/EVIDENCIAS/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5537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Evidencias.md · UsosEsperados.md · CriterioHumano.md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506577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143000" y="49926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ENTREGABLES/traceability.md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99262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RF → HU → CU → Bounded Context → Endpoint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50468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143000" y="54315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specs/003-sqlserver-docker-migration/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543153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Especificación, plan, tareas y guía de validación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2518</Words>
  <Application>Microsoft Office PowerPoint</Application>
  <PresentationFormat>Panorámica</PresentationFormat>
  <Paragraphs>369</Paragraphs>
  <Slides>26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-apple-system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TimeClockSystem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TimeClockSystem: de la especificación a la implementación con IA</dc:title>
  <dc:subject>PptxGenJS Presentation</dc:subject>
  <dc:creator>TimeClockSystem — Claude Code</dc:creator>
  <cp:lastModifiedBy>Respaldos Multiples</cp:lastModifiedBy>
  <cp:revision>19</cp:revision>
  <dcterms:created xsi:type="dcterms:W3CDTF">2026-09-26T01:12:29Z</dcterms:created>
  <dcterms:modified xsi:type="dcterms:W3CDTF">2026-09-26T14:37:33Z</dcterms:modified>
</cp:coreProperties>
</file>